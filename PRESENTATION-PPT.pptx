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DM Sans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Montserrat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77500" y="2238500"/>
            <a:ext cx="4785328" cy="5810001"/>
          </a:xfrm>
          <a:custGeom>
            <a:avLst/>
            <a:gdLst/>
            <a:ahLst/>
            <a:cxnLst/>
            <a:rect r="r" b="b" t="t" l="l"/>
            <a:pathLst>
              <a:path h="5810001" w="4785328">
                <a:moveTo>
                  <a:pt x="0" y="0"/>
                </a:moveTo>
                <a:lnTo>
                  <a:pt x="4785328" y="0"/>
                </a:lnTo>
                <a:lnTo>
                  <a:pt x="4785328" y="5810000"/>
                </a:lnTo>
                <a:lnTo>
                  <a:pt x="0" y="581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57710" y="2992870"/>
            <a:ext cx="831979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Healthcare Provider Analytics Repository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57710" y="4836795"/>
            <a:ext cx="668629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From raw patient data to meaningful healthcare intelligence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7710" y="6699993"/>
            <a:ext cx="831979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7710" y="7029558"/>
            <a:ext cx="9147399" cy="53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09"/>
              </a:lnSpc>
            </a:pPr>
            <a:r>
              <a:rPr lang="en-US" sz="3078" b="true">
                <a:solidFill>
                  <a:srgbClr val="4B72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Sai Teja &amp; Nirja Gupta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3013" y="3099311"/>
            <a:ext cx="1672189" cy="167218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689F3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2525318" y="2429299"/>
            <a:ext cx="13237364" cy="7190940"/>
            <a:chOff x="0" y="0"/>
            <a:chExt cx="3368078" cy="18296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368078" cy="1829643"/>
            </a:xfrm>
            <a:custGeom>
              <a:avLst/>
              <a:gdLst/>
              <a:ahLst/>
              <a:cxnLst/>
              <a:rect r="r" b="b" t="t" l="l"/>
              <a:pathLst>
                <a:path h="1829643" w="3368078">
                  <a:moveTo>
                    <a:pt x="3368078" y="0"/>
                  </a:moveTo>
                  <a:lnTo>
                    <a:pt x="3368078" y="1715343"/>
                  </a:lnTo>
                  <a:lnTo>
                    <a:pt x="1684039" y="1829643"/>
                  </a:lnTo>
                  <a:lnTo>
                    <a:pt x="0" y="1715343"/>
                  </a:lnTo>
                  <a:lnTo>
                    <a:pt x="0" y="0"/>
                  </a:lnTo>
                  <a:lnTo>
                    <a:pt x="3368078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368078" cy="175344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309360" y="1242407"/>
            <a:ext cx="766928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66715" y="3699069"/>
            <a:ext cx="11754570" cy="555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7297" indent="-378649" lvl="1">
              <a:lnSpc>
                <a:spcPts val="4910"/>
              </a:lnSpc>
              <a:buFont typeface="Arial"/>
              <a:buChar char="•"/>
            </a:pPr>
            <a:r>
              <a:rPr lang="en-US" b="true" sz="350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project focuses on building a centralized healthcare analytics system.</a:t>
            </a:r>
          </a:p>
          <a:p>
            <a:pPr algn="l" marL="757297" indent="-378649" lvl="1">
              <a:lnSpc>
                <a:spcPts val="4910"/>
              </a:lnSpc>
              <a:buFont typeface="Arial"/>
              <a:buChar char="•"/>
            </a:pPr>
            <a:r>
              <a:rPr lang="en-US" b="true" sz="350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 helps derive insights about patient demographics, healthcare costs, and provider performance.</a:t>
            </a:r>
          </a:p>
          <a:p>
            <a:pPr algn="l" marL="757297" indent="-378649" lvl="1">
              <a:lnSpc>
                <a:spcPts val="4910"/>
              </a:lnSpc>
              <a:buFont typeface="Arial"/>
              <a:buChar char="•"/>
            </a:pPr>
            <a:r>
              <a:rPr lang="en-US" b="true" sz="350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solution uses BigQuery with a Medallion Architecture and a Streamlit dashboard for visualization</a:t>
            </a:r>
          </a:p>
          <a:p>
            <a:pPr algn="l">
              <a:lnSpc>
                <a:spcPts val="4910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34489" y="2758054"/>
            <a:ext cx="12814732" cy="6266597"/>
            <a:chOff x="0" y="0"/>
            <a:chExt cx="3847204" cy="1881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47204" cy="1881340"/>
            </a:xfrm>
            <a:custGeom>
              <a:avLst/>
              <a:gdLst/>
              <a:ahLst/>
              <a:cxnLst/>
              <a:rect r="r" b="b" t="t" l="l"/>
              <a:pathLst>
                <a:path h="1881340" w="3847204">
                  <a:moveTo>
                    <a:pt x="0" y="0"/>
                  </a:moveTo>
                  <a:lnTo>
                    <a:pt x="3847204" y="0"/>
                  </a:lnTo>
                  <a:lnTo>
                    <a:pt x="3847204" y="1881340"/>
                  </a:lnTo>
                  <a:lnTo>
                    <a:pt x="0" y="188134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847204" cy="191944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83590" y="1242407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99553" y="3309046"/>
            <a:ext cx="11488893" cy="5177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process and manage healthcare data efficiently using cloud-based architecture.</a:t>
            </a:r>
          </a:p>
          <a:p>
            <a:pPr algn="l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create a clean, analytics-ready data model using the Bronze–Silver–Gold pipeline.</a:t>
            </a:r>
          </a:p>
          <a:p>
            <a:pPr algn="l" marL="777232" indent="-388616" lvl="1">
              <a:lnSpc>
                <a:spcPts val="5039"/>
              </a:lnSpc>
              <a:buFont typeface="Arial"/>
              <a:buChar char="•"/>
            </a:pPr>
            <a:r>
              <a:rPr lang="en-US" b="true" sz="35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 design an interactive dashboard for healthcare insights and decision support.</a:t>
            </a:r>
          </a:p>
          <a:p>
            <a:pPr algn="l">
              <a:lnSpc>
                <a:spcPts val="587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2815771"/>
            <a:ext cx="11870691" cy="6321679"/>
            <a:chOff x="0" y="0"/>
            <a:chExt cx="3563786" cy="18978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63786" cy="1897877"/>
            </a:xfrm>
            <a:custGeom>
              <a:avLst/>
              <a:gdLst/>
              <a:ahLst/>
              <a:cxnLst/>
              <a:rect r="r" b="b" t="t" l="l"/>
              <a:pathLst>
                <a:path h="1897877" w="3563786">
                  <a:moveTo>
                    <a:pt x="0" y="0"/>
                  </a:moveTo>
                  <a:lnTo>
                    <a:pt x="3563786" y="0"/>
                  </a:lnTo>
                  <a:lnTo>
                    <a:pt x="3563786" y="1897877"/>
                  </a:lnTo>
                  <a:lnTo>
                    <a:pt x="0" y="1897877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63786" cy="1935977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true" rot="0">
            <a:off x="16528583" y="8559934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2"/>
                </a:moveTo>
                <a:lnTo>
                  <a:pt x="2147582" y="2128512"/>
                </a:lnTo>
                <a:lnTo>
                  <a:pt x="2147582" y="0"/>
                </a:lnTo>
                <a:lnTo>
                  <a:pt x="0" y="0"/>
                </a:lnTo>
                <a:lnTo>
                  <a:pt x="0" y="2128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83590" y="1242407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57660" y="3787447"/>
            <a:ext cx="10759376" cy="431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Source: Synthea synthetic health data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File used: patients.csv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Contains demographic and health-related details of patients.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stored and queried using Google BigQuery.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7711" y="3509687"/>
            <a:ext cx="5051303" cy="5405090"/>
          </a:xfrm>
          <a:custGeom>
            <a:avLst/>
            <a:gdLst/>
            <a:ahLst/>
            <a:cxnLst/>
            <a:rect r="r" b="b" t="t" l="l"/>
            <a:pathLst>
              <a:path h="5405090" w="5051303">
                <a:moveTo>
                  <a:pt x="0" y="0"/>
                </a:moveTo>
                <a:lnTo>
                  <a:pt x="5051303" y="0"/>
                </a:lnTo>
                <a:lnTo>
                  <a:pt x="5051303" y="5405090"/>
                </a:lnTo>
                <a:lnTo>
                  <a:pt x="0" y="540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22676" y="8441453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2" y="0"/>
                </a:lnTo>
                <a:lnTo>
                  <a:pt x="43107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50453" y="1144813"/>
            <a:ext cx="8319580" cy="73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4"/>
              </a:lnSpc>
            </a:pPr>
            <a:r>
              <a:rPr lang="en-US" sz="4295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35872" y="4983147"/>
            <a:ext cx="4068790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cleaning, standardization, and transformations.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83339" y="3726180"/>
            <a:ext cx="203439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Raw data ingestion from CSV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83339" y="6464496"/>
            <a:ext cx="4068790" cy="72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Analytical model with Dimension &amp; Fact tables.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11990" y="1858787"/>
            <a:ext cx="9691180" cy="736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4"/>
              </a:lnSpc>
            </a:pPr>
            <a:r>
              <a:rPr lang="en-US" sz="4295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Medallion Architecture Layers: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067603" y="4113529"/>
            <a:ext cx="1319512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Bronze: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17711" y="5292349"/>
            <a:ext cx="2008059" cy="47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57"/>
              </a:lnSpc>
              <a:spcBef>
                <a:spcPct val="0"/>
              </a:spcBef>
            </a:pPr>
            <a:r>
              <a:rPr lang="en-US" b="true" sz="2826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Silver: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49502" y="6612451"/>
            <a:ext cx="755715" cy="422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B1B1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Gold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64540" y="1471047"/>
            <a:ext cx="11795001" cy="1802384"/>
            <a:chOff x="0" y="0"/>
            <a:chExt cx="3541063" cy="5411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41063" cy="541107"/>
            </a:xfrm>
            <a:custGeom>
              <a:avLst/>
              <a:gdLst/>
              <a:ahLst/>
              <a:cxnLst/>
              <a:rect r="r" b="b" t="t" l="l"/>
              <a:pathLst>
                <a:path h="541107" w="3541063">
                  <a:moveTo>
                    <a:pt x="0" y="0"/>
                  </a:moveTo>
                  <a:lnTo>
                    <a:pt x="3541063" y="0"/>
                  </a:lnTo>
                  <a:lnTo>
                    <a:pt x="3541063" y="541107"/>
                  </a:lnTo>
                  <a:lnTo>
                    <a:pt x="0" y="541107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541063" cy="579207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15697" y="3606806"/>
            <a:ext cx="10437273" cy="5825403"/>
          </a:xfrm>
          <a:custGeom>
            <a:avLst/>
            <a:gdLst/>
            <a:ahLst/>
            <a:cxnLst/>
            <a:rect r="r" b="b" t="t" l="l"/>
            <a:pathLst>
              <a:path h="5825403" w="10437273">
                <a:moveTo>
                  <a:pt x="0" y="0"/>
                </a:moveTo>
                <a:lnTo>
                  <a:pt x="10437273" y="0"/>
                </a:lnTo>
                <a:lnTo>
                  <a:pt x="10437273" y="5825403"/>
                </a:lnTo>
                <a:lnTo>
                  <a:pt x="0" y="58254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9685" r="0" b="-9685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884228" y="425773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Modeling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71110" y="1788165"/>
            <a:ext cx="10181860" cy="1485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data is organized into Dimension and Fact tables for analytical efficiency.</a:t>
            </a:r>
          </a:p>
          <a:p>
            <a:pPr algn="ctr">
              <a:lnSpc>
                <a:spcPts val="294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83590" y="1242407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Stack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408092" y="2670213"/>
            <a:ext cx="13786073" cy="6588087"/>
            <a:chOff x="0" y="0"/>
            <a:chExt cx="3630900" cy="17351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30900" cy="1735134"/>
            </a:xfrm>
            <a:custGeom>
              <a:avLst/>
              <a:gdLst/>
              <a:ahLst/>
              <a:cxnLst/>
              <a:rect r="r" b="b" t="t" l="l"/>
              <a:pathLst>
                <a:path h="1735134" w="3630900">
                  <a:moveTo>
                    <a:pt x="8424" y="0"/>
                  </a:moveTo>
                  <a:lnTo>
                    <a:pt x="3622477" y="0"/>
                  </a:lnTo>
                  <a:cubicBezTo>
                    <a:pt x="3624711" y="0"/>
                    <a:pt x="3626853" y="887"/>
                    <a:pt x="3628433" y="2467"/>
                  </a:cubicBezTo>
                  <a:cubicBezTo>
                    <a:pt x="3630013" y="4047"/>
                    <a:pt x="3630900" y="6190"/>
                    <a:pt x="3630900" y="8424"/>
                  </a:cubicBezTo>
                  <a:lnTo>
                    <a:pt x="3630900" y="1726710"/>
                  </a:lnTo>
                  <a:cubicBezTo>
                    <a:pt x="3630900" y="1728944"/>
                    <a:pt x="3630013" y="1731087"/>
                    <a:pt x="3628433" y="1732667"/>
                  </a:cubicBezTo>
                  <a:cubicBezTo>
                    <a:pt x="3626853" y="1734246"/>
                    <a:pt x="3624711" y="1735134"/>
                    <a:pt x="3622477" y="1735134"/>
                  </a:cubicBezTo>
                  <a:lnTo>
                    <a:pt x="8424" y="1735134"/>
                  </a:lnTo>
                  <a:cubicBezTo>
                    <a:pt x="6190" y="1735134"/>
                    <a:pt x="4047" y="1734246"/>
                    <a:pt x="2467" y="1732667"/>
                  </a:cubicBezTo>
                  <a:cubicBezTo>
                    <a:pt x="887" y="1731087"/>
                    <a:pt x="0" y="1728944"/>
                    <a:pt x="0" y="1726710"/>
                  </a:cubicBezTo>
                  <a:lnTo>
                    <a:pt x="0" y="8424"/>
                  </a:lnTo>
                  <a:cubicBezTo>
                    <a:pt x="0" y="6190"/>
                    <a:pt x="887" y="4047"/>
                    <a:pt x="2467" y="2467"/>
                  </a:cubicBezTo>
                  <a:cubicBezTo>
                    <a:pt x="4047" y="887"/>
                    <a:pt x="6190" y="0"/>
                    <a:pt x="8424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630900" cy="1773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398067" y="3775093"/>
            <a:ext cx="11806124" cy="4311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BigQuery: Data warehousing &amp; querying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Pytho</a:t>
            </a: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n: ETL scripting and transformations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GCP: Cloud environment for scalability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Streamlit: Dashboard creation</a:t>
            </a:r>
          </a:p>
          <a:p>
            <a:pPr algn="l" marL="755642" indent="-377821" lvl="1">
              <a:lnSpc>
                <a:spcPts val="4899"/>
              </a:lnSpc>
              <a:buFont typeface="Arial"/>
              <a:buChar char="•"/>
            </a:pPr>
            <a:r>
              <a:rPr lang="en-US" b="true" sz="34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VS Code: Development platform</a:t>
            </a:r>
          </a:p>
          <a:p>
            <a:pPr algn="l">
              <a:lnSpc>
                <a:spcPts val="48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843960" y="8717914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16528583" y="-809906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123312"/>
            <a:ext cx="15963394" cy="8050531"/>
            <a:chOff x="0" y="0"/>
            <a:chExt cx="4792486" cy="24169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92486" cy="2416908"/>
            </a:xfrm>
            <a:custGeom>
              <a:avLst/>
              <a:gdLst/>
              <a:ahLst/>
              <a:cxnLst/>
              <a:rect r="r" b="b" t="t" l="l"/>
              <a:pathLst>
                <a:path h="2416908" w="4792486">
                  <a:moveTo>
                    <a:pt x="0" y="0"/>
                  </a:moveTo>
                  <a:lnTo>
                    <a:pt x="4792486" y="0"/>
                  </a:lnTo>
                  <a:lnTo>
                    <a:pt x="4792486" y="2416908"/>
                  </a:lnTo>
                  <a:lnTo>
                    <a:pt x="0" y="2416908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792486" cy="24550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709303" y="507648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Dashboard 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24600" y="3218687"/>
            <a:ext cx="13971594" cy="5793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🏠 Home: Key metrics - </a:t>
            </a:r>
            <a:r>
              <a:rPr lang="en-US" sz="32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Provides a quick summary of total patients, gender split, average expenses, and coverage.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👥 Demographics Overview -</a:t>
            </a:r>
            <a:r>
              <a:rPr lang="en-US" sz="32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 Shows patient distribution by gender, race, and marital status for population insights.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💰 Financial Insights - </a:t>
            </a:r>
            <a:r>
              <a:rPr lang="en-US" sz="32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Analyzes average healthcare expenses and coverage to identify financial patterns.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🌍 Geographic Distribution - </a:t>
            </a:r>
            <a:r>
              <a:rPr lang="en-US" sz="32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Visualizes patient spread across different regions for location-based analysis.</a:t>
            </a:r>
          </a:p>
          <a:p>
            <a:pPr algn="l" marL="712464" indent="-356232" lvl="1">
              <a:lnSpc>
                <a:spcPts val="4619"/>
              </a:lnSpc>
              <a:buFont typeface="Arial"/>
              <a:buChar char="•"/>
            </a:pPr>
            <a:r>
              <a:rPr lang="en-US" b="true" sz="32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📈 Data Explorer - </a:t>
            </a:r>
            <a:r>
              <a:rPr lang="en-US" sz="3299">
                <a:solidFill>
                  <a:srgbClr val="1B1B1B"/>
                </a:solidFill>
                <a:latin typeface="Montserrat"/>
                <a:ea typeface="Montserrat"/>
                <a:cs typeface="Montserrat"/>
                <a:sym typeface="Montserrat"/>
              </a:rPr>
              <a:t>Displays correlation heatmaps to reveal relationships between key healthcare metrics.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16397529" y="8347556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2638920"/>
                </a:moveTo>
                <a:lnTo>
                  <a:pt x="3230536" y="2638920"/>
                </a:lnTo>
                <a:lnTo>
                  <a:pt x="3230536" y="0"/>
                </a:lnTo>
                <a:lnTo>
                  <a:pt x="0" y="0"/>
                </a:lnTo>
                <a:lnTo>
                  <a:pt x="0" y="26389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43230" y="-408495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81305" y="1153443"/>
            <a:ext cx="8189079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Healthcare Critical Analysis Dashboard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59247" y="2677115"/>
            <a:ext cx="13822168" cy="6581185"/>
            <a:chOff x="0" y="0"/>
            <a:chExt cx="3640406" cy="1733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40406" cy="1733316"/>
            </a:xfrm>
            <a:custGeom>
              <a:avLst/>
              <a:gdLst/>
              <a:ahLst/>
              <a:cxnLst/>
              <a:rect r="r" b="b" t="t" l="l"/>
              <a:pathLst>
                <a:path h="1733316" w="3640406">
                  <a:moveTo>
                    <a:pt x="8402" y="0"/>
                  </a:moveTo>
                  <a:lnTo>
                    <a:pt x="3632005" y="0"/>
                  </a:lnTo>
                  <a:cubicBezTo>
                    <a:pt x="3634233" y="0"/>
                    <a:pt x="3636370" y="885"/>
                    <a:pt x="3637946" y="2461"/>
                  </a:cubicBezTo>
                  <a:cubicBezTo>
                    <a:pt x="3639521" y="4036"/>
                    <a:pt x="3640406" y="6173"/>
                    <a:pt x="3640406" y="8402"/>
                  </a:cubicBezTo>
                  <a:lnTo>
                    <a:pt x="3640406" y="1724915"/>
                  </a:lnTo>
                  <a:cubicBezTo>
                    <a:pt x="3640406" y="1727143"/>
                    <a:pt x="3639521" y="1729280"/>
                    <a:pt x="3637946" y="1730856"/>
                  </a:cubicBezTo>
                  <a:cubicBezTo>
                    <a:pt x="3636370" y="1732431"/>
                    <a:pt x="3634233" y="1733316"/>
                    <a:pt x="3632005" y="1733316"/>
                  </a:cubicBezTo>
                  <a:lnTo>
                    <a:pt x="8402" y="1733316"/>
                  </a:lnTo>
                  <a:cubicBezTo>
                    <a:pt x="6173" y="1733316"/>
                    <a:pt x="4036" y="1732431"/>
                    <a:pt x="2461" y="1730856"/>
                  </a:cubicBezTo>
                  <a:cubicBezTo>
                    <a:pt x="885" y="1729280"/>
                    <a:pt x="0" y="1727143"/>
                    <a:pt x="0" y="1724915"/>
                  </a:cubicBezTo>
                  <a:lnTo>
                    <a:pt x="0" y="8402"/>
                  </a:lnTo>
                  <a:cubicBezTo>
                    <a:pt x="0" y="6173"/>
                    <a:pt x="885" y="4036"/>
                    <a:pt x="2461" y="2461"/>
                  </a:cubicBezTo>
                  <a:cubicBezTo>
                    <a:pt x="4036" y="885"/>
                    <a:pt x="6173" y="0"/>
                    <a:pt x="8402" y="0"/>
                  </a:cubicBezTo>
                  <a:close/>
                </a:path>
              </a:pathLst>
            </a:custGeom>
            <a:solidFill>
              <a:srgbClr val="DCEDC8"/>
            </a:solidFill>
            <a:ln w="4762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640406" cy="1771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883590" y="1242407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16086" y="3843950"/>
            <a:ext cx="12708492" cy="418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Gender distribution and total patient count.</a:t>
            </a:r>
          </a:p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Average healthcare expenses and coverage per patient.</a:t>
            </a:r>
          </a:p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Regional trends in healthcare access and spending.</a:t>
            </a:r>
          </a:p>
          <a:p>
            <a:pPr algn="l" marL="734053" indent="-367026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Correlation between demographic attributes and expenses.</a:t>
            </a: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true" rot="0">
            <a:off x="16528583" y="-229501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43960" y="8609717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298571" y="634365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644728"/>
            <a:ext cx="15915566" cy="7826869"/>
            <a:chOff x="0" y="0"/>
            <a:chExt cx="4191754" cy="20613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754" cy="2061397"/>
            </a:xfrm>
            <a:custGeom>
              <a:avLst/>
              <a:gdLst/>
              <a:ahLst/>
              <a:cxnLst/>
              <a:rect r="r" b="b" t="t" l="l"/>
              <a:pathLst>
                <a:path h="2061397" w="4191754">
                  <a:moveTo>
                    <a:pt x="7297" y="0"/>
                  </a:moveTo>
                  <a:lnTo>
                    <a:pt x="4184457" y="0"/>
                  </a:lnTo>
                  <a:cubicBezTo>
                    <a:pt x="4186393" y="0"/>
                    <a:pt x="4188248" y="769"/>
                    <a:pt x="4189617" y="2137"/>
                  </a:cubicBezTo>
                  <a:cubicBezTo>
                    <a:pt x="4190985" y="3505"/>
                    <a:pt x="4191754" y="5361"/>
                    <a:pt x="4191754" y="7297"/>
                  </a:cubicBezTo>
                  <a:lnTo>
                    <a:pt x="4191754" y="2054101"/>
                  </a:lnTo>
                  <a:cubicBezTo>
                    <a:pt x="4191754" y="2056036"/>
                    <a:pt x="4190985" y="2057892"/>
                    <a:pt x="4189617" y="2059260"/>
                  </a:cubicBezTo>
                  <a:cubicBezTo>
                    <a:pt x="4188248" y="2060629"/>
                    <a:pt x="4186393" y="2061397"/>
                    <a:pt x="4184457" y="2061397"/>
                  </a:cubicBezTo>
                  <a:lnTo>
                    <a:pt x="7297" y="2061397"/>
                  </a:lnTo>
                  <a:cubicBezTo>
                    <a:pt x="5361" y="2061397"/>
                    <a:pt x="3505" y="2060629"/>
                    <a:pt x="2137" y="2059260"/>
                  </a:cubicBezTo>
                  <a:cubicBezTo>
                    <a:pt x="769" y="2057892"/>
                    <a:pt x="0" y="2056036"/>
                    <a:pt x="0" y="2054101"/>
                  </a:cubicBezTo>
                  <a:lnTo>
                    <a:pt x="0" y="7297"/>
                  </a:lnTo>
                  <a:cubicBezTo>
                    <a:pt x="0" y="5361"/>
                    <a:pt x="769" y="3505"/>
                    <a:pt x="2137" y="2137"/>
                  </a:cubicBezTo>
                  <a:cubicBezTo>
                    <a:pt x="3505" y="769"/>
                    <a:pt x="5361" y="0"/>
                    <a:pt x="7297" y="0"/>
                  </a:cubicBezTo>
                  <a:close/>
                </a:path>
              </a:pathLst>
            </a:custGeom>
            <a:solidFill>
              <a:srgbClr val="DCEDC8"/>
            </a:solidFill>
            <a:ln w="4762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191754" cy="2109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 marL="647690" indent="-323845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The Healthcare Provider Analytics Repository establishes a robust, end-to-end solution for transforming raw data into actionable healthcare intelligence.</a:t>
              </a:r>
            </a:p>
            <a:p>
              <a:pPr algn="just">
                <a:lnSpc>
                  <a:spcPts val="4199"/>
                </a:lnSpc>
              </a:pPr>
            </a:p>
            <a:p>
              <a:pPr algn="just" marL="647690" indent="-323845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​Leveraging a BigQuery-based data pipeline and the Medallion Architecture (Bronze \rightarrow Silver \rightarrow Gold), we successfully integrated and refined disparate patient data without loss of meaning or fidelity.</a:t>
              </a:r>
            </a:p>
            <a:p>
              <a:pPr algn="just">
                <a:lnSpc>
                  <a:spcPts val="4199"/>
                </a:lnSpc>
              </a:pPr>
            </a:p>
            <a:p>
              <a:pPr algn="just" marL="647690" indent="-323845" lvl="1">
                <a:lnSpc>
                  <a:spcPts val="4199"/>
                </a:lnSpc>
                <a:buFont typeface="Arial"/>
                <a:buChar char="•"/>
              </a:pPr>
              <a:r>
                <a:rPr lang="en-US" b="true" sz="29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​The resulting dynamic Streamlit dashboard delivers a comprehensive 360° view via key metrics, demographic distributions, financial analytics, and geographic visuals. This system directly empowers critical decision-making by providing instant, trustworthy insights from a clean, live analytical dataset.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6448" y="5343922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8" y="0"/>
                </a:lnTo>
                <a:lnTo>
                  <a:pt x="2999498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66225" y="3544795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9" y="0"/>
                </a:lnTo>
                <a:lnTo>
                  <a:pt x="2999499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675674" y="7139235"/>
            <a:ext cx="2436744" cy="2436744"/>
          </a:xfrm>
          <a:custGeom>
            <a:avLst/>
            <a:gdLst/>
            <a:ahLst/>
            <a:cxnLst/>
            <a:rect r="r" b="b" t="t" l="l"/>
            <a:pathLst>
              <a:path h="2436744" w="2436744">
                <a:moveTo>
                  <a:pt x="2436744" y="0"/>
                </a:moveTo>
                <a:lnTo>
                  <a:pt x="0" y="0"/>
                </a:lnTo>
                <a:lnTo>
                  <a:pt x="0" y="2436744"/>
                </a:lnTo>
                <a:lnTo>
                  <a:pt x="2436744" y="2436744"/>
                </a:lnTo>
                <a:lnTo>
                  <a:pt x="24367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87332" y="1744550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8" y="0"/>
                </a:lnTo>
                <a:lnTo>
                  <a:pt x="2999498" y="2398708"/>
                </a:lnTo>
                <a:lnTo>
                  <a:pt x="0" y="239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33638" y="155031"/>
            <a:ext cx="592749" cy="3790837"/>
          </a:xfrm>
          <a:custGeom>
            <a:avLst/>
            <a:gdLst/>
            <a:ahLst/>
            <a:cxnLst/>
            <a:rect r="r" b="b" t="t" l="l"/>
            <a:pathLst>
              <a:path h="3790837" w="592749">
                <a:moveTo>
                  <a:pt x="0" y="0"/>
                </a:moveTo>
                <a:lnTo>
                  <a:pt x="592750" y="0"/>
                </a:lnTo>
                <a:lnTo>
                  <a:pt x="592750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0510144" y="9547404"/>
            <a:ext cx="592749" cy="3790837"/>
          </a:xfrm>
          <a:custGeom>
            <a:avLst/>
            <a:gdLst/>
            <a:ahLst/>
            <a:cxnLst/>
            <a:rect r="r" b="b" t="t" l="l"/>
            <a:pathLst>
              <a:path h="3790837" w="592749">
                <a:moveTo>
                  <a:pt x="0" y="0"/>
                </a:moveTo>
                <a:lnTo>
                  <a:pt x="592749" y="0"/>
                </a:lnTo>
                <a:lnTo>
                  <a:pt x="592749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92245" y="2050449"/>
            <a:ext cx="1316128" cy="131612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48225" y="3827372"/>
            <a:ext cx="1316128" cy="131612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49590" y="5613608"/>
            <a:ext cx="1316128" cy="131612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36653" y="6287211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8225" y="2012349"/>
            <a:ext cx="682730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Demonstrates how healthcare data can be effectively managed and analyzed using BigQuery.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49590" y="3911065"/>
            <a:ext cx="6310195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Combines data engineering (Medallion) and data visualization (Streamlit) in one ecosystem.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91767" y="5697301"/>
            <a:ext cx="5470386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Provides a scalable foundation for future healthcare analytics applications.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DAG4UVsGJwA</dc:identifier>
  <dcterms:modified xsi:type="dcterms:W3CDTF">2011-08-01T06:04:30Z</dcterms:modified>
  <cp:revision>1</cp:revision>
  <dc:title>Healthcare Provider Analytics Repository</dc:title>
</cp:coreProperties>
</file>